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</p:sldIdLst>
  <p:sldSz cx="32918400" cy="4389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11"/>
    <p:restoredTop sz="96327"/>
  </p:normalViewPr>
  <p:slideViewPr>
    <p:cSldViewPr snapToGrid="0">
      <p:cViewPr>
        <p:scale>
          <a:sx n="100" d="100"/>
          <a:sy n="100" d="100"/>
        </p:scale>
        <p:origin x="-89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7183123"/>
            <a:ext cx="27980640" cy="1528064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23053043"/>
            <a:ext cx="24688800" cy="10596877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0B4FD-DF4E-524E-98CB-2442821C426C}" type="datetimeFigureOut">
              <a:rPr lang="en-US" smtClean="0"/>
              <a:t>6/20/23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279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0B4FD-DF4E-524E-98CB-2442821C426C}" type="datetimeFigureOut">
              <a:rPr lang="en-US" smtClean="0"/>
              <a:t>6/20/23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478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10942333"/>
            <a:ext cx="28392120" cy="18257517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29372573"/>
            <a:ext cx="28392120" cy="9601197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/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0B4FD-DF4E-524E-98CB-2442821C426C}" type="datetimeFigureOut">
              <a:rPr lang="en-US" smtClean="0"/>
              <a:t>6/20/23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663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0B4FD-DF4E-524E-98CB-2442821C426C}" type="datetimeFigureOut">
              <a:rPr lang="en-US" smtClean="0"/>
              <a:t>6/20/23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74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336810"/>
            <a:ext cx="28392120" cy="84836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10759443"/>
            <a:ext cx="13926024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16032480"/>
            <a:ext cx="13926024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10759443"/>
            <a:ext cx="13994608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16032480"/>
            <a:ext cx="13994608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0B4FD-DF4E-524E-98CB-2442821C426C}" type="datetimeFigureOut">
              <a:rPr lang="en-US" smtClean="0"/>
              <a:t>6/20/23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115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0B4FD-DF4E-524E-98CB-2442821C426C}" type="datetimeFigureOut">
              <a:rPr lang="en-US" smtClean="0"/>
              <a:t>6/20/23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68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0B4FD-DF4E-524E-98CB-2442821C426C}" type="datetimeFigureOut">
              <a:rPr lang="en-US" smtClean="0"/>
              <a:t>6/20/23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105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6319530"/>
            <a:ext cx="16664940" cy="311912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0B4FD-DF4E-524E-98CB-2442821C426C}" type="datetimeFigureOut">
              <a:rPr lang="en-US" smtClean="0"/>
              <a:t>6/20/23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564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6319530"/>
            <a:ext cx="16664940" cy="31191200"/>
          </a:xfrm>
        </p:spPr>
        <p:txBody>
          <a:bodyPr anchor="t"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0B4FD-DF4E-524E-98CB-2442821C426C}" type="datetimeFigureOut">
              <a:rPr lang="en-US" smtClean="0"/>
              <a:t>6/20/23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225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0B4FD-DF4E-524E-98CB-2442821C426C}" type="datetimeFigureOut">
              <a:rPr lang="en-US" smtClean="0"/>
              <a:t>6/20/23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672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2336800"/>
            <a:ext cx="7098030" cy="3719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2336800"/>
            <a:ext cx="20882610" cy="3719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0B4FD-DF4E-524E-98CB-2442821C426C}" type="datetimeFigureOut">
              <a:rPr lang="en-US" smtClean="0"/>
              <a:t>6/20/23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185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2336810"/>
            <a:ext cx="28392120" cy="8483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11684000"/>
            <a:ext cx="28392120" cy="2784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30B4FD-DF4E-524E-98CB-2442821C426C}" type="datetimeFigureOut">
              <a:rPr lang="en-US" smtClean="0"/>
              <a:t>6/20/23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129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.xml"/><Relationship Id="rId18" Type="http://schemas.openxmlformats.org/officeDocument/2006/relationships/image" Target="../media/image5.emf"/><Relationship Id="rId26" Type="http://schemas.openxmlformats.org/officeDocument/2006/relationships/image" Target="../media/image13.emf"/><Relationship Id="rId3" Type="http://schemas.openxmlformats.org/officeDocument/2006/relationships/tags" Target="../tags/tag3.xml"/><Relationship Id="rId21" Type="http://schemas.openxmlformats.org/officeDocument/2006/relationships/image" Target="../media/image8.emf"/><Relationship Id="rId34" Type="http://schemas.openxmlformats.org/officeDocument/2006/relationships/image" Target="../media/image21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4.emf"/><Relationship Id="rId25" Type="http://schemas.openxmlformats.org/officeDocument/2006/relationships/image" Target="../media/image12.emf"/><Relationship Id="rId33" Type="http://schemas.openxmlformats.org/officeDocument/2006/relationships/image" Target="../media/image20.png"/><Relationship Id="rId2" Type="http://schemas.openxmlformats.org/officeDocument/2006/relationships/tags" Target="../tags/tag2.xml"/><Relationship Id="rId16" Type="http://schemas.openxmlformats.org/officeDocument/2006/relationships/image" Target="../media/image3.emf"/><Relationship Id="rId20" Type="http://schemas.openxmlformats.org/officeDocument/2006/relationships/image" Target="../media/image7.png"/><Relationship Id="rId29" Type="http://schemas.openxmlformats.org/officeDocument/2006/relationships/image" Target="../media/image16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11.emf"/><Relationship Id="rId32" Type="http://schemas.openxmlformats.org/officeDocument/2006/relationships/image" Target="../media/image19.png"/><Relationship Id="rId5" Type="http://schemas.openxmlformats.org/officeDocument/2006/relationships/tags" Target="../tags/tag5.xml"/><Relationship Id="rId15" Type="http://schemas.openxmlformats.org/officeDocument/2006/relationships/image" Target="../media/image2.png"/><Relationship Id="rId23" Type="http://schemas.openxmlformats.org/officeDocument/2006/relationships/image" Target="../media/image10.png"/><Relationship Id="rId28" Type="http://schemas.openxmlformats.org/officeDocument/2006/relationships/image" Target="../media/image15.png"/><Relationship Id="rId10" Type="http://schemas.openxmlformats.org/officeDocument/2006/relationships/tags" Target="../tags/tag10.xml"/><Relationship Id="rId19" Type="http://schemas.openxmlformats.org/officeDocument/2006/relationships/image" Target="../media/image6.emf"/><Relationship Id="rId31" Type="http://schemas.openxmlformats.org/officeDocument/2006/relationships/image" Target="../media/image18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1.png"/><Relationship Id="rId22" Type="http://schemas.openxmlformats.org/officeDocument/2006/relationships/image" Target="../media/image9.emf"/><Relationship Id="rId27" Type="http://schemas.openxmlformats.org/officeDocument/2006/relationships/image" Target="../media/image14.png"/><Relationship Id="rId30" Type="http://schemas.openxmlformats.org/officeDocument/2006/relationships/image" Target="../media/image17.png"/><Relationship Id="rId8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5766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 1">
            <a:extLst>
              <a:ext uri="{FF2B5EF4-FFF2-40B4-BE49-F238E27FC236}">
                <a16:creationId xmlns:a16="http://schemas.microsoft.com/office/drawing/2014/main" id="{54F35A49-931E-2187-E047-91E9799DF4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0682" y="305800"/>
            <a:ext cx="21877033" cy="3347371"/>
          </a:xfrm>
          <a:noFill/>
        </p:spPr>
        <p:txBody>
          <a:bodyPr>
            <a:noAutofit/>
          </a:bodyPr>
          <a:lstStyle/>
          <a:p>
            <a:r>
              <a:rPr lang="en-US" sz="11200" dirty="0">
                <a:solidFill>
                  <a:srgbClr val="0070C0"/>
                </a:solidFill>
                <a:latin typeface="Baloo Thambi 2" panose="03080502040302020200" pitchFamily="66" charset="77"/>
                <a:cs typeface="Baloo Thambi 2" panose="03080502040302020200" pitchFamily="66" charset="77"/>
              </a:rPr>
              <a:t>Quantum spin ice in three-dimensional Rydberg atom arrays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18550CD-25EC-9263-6B7A-64BBB6DA95F1}"/>
              </a:ext>
            </a:extLst>
          </p:cNvPr>
          <p:cNvGrpSpPr/>
          <p:nvPr/>
        </p:nvGrpSpPr>
        <p:grpSpPr>
          <a:xfrm>
            <a:off x="776801" y="2453979"/>
            <a:ext cx="2446426" cy="2764708"/>
            <a:chOff x="18925639" y="9296880"/>
            <a:chExt cx="1838036" cy="207716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926F584-8788-CE64-98AD-9020DB07E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8986841" y="9296880"/>
              <a:ext cx="1715632" cy="171563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74100D-DA20-A4B1-F3BB-4A6CDD5C6936}"/>
                </a:ext>
              </a:extLst>
            </p:cNvPr>
            <p:cNvSpPr txBox="1"/>
            <p:nvPr/>
          </p:nvSpPr>
          <p:spPr>
            <a:xfrm>
              <a:off x="18925639" y="11027189"/>
              <a:ext cx="1838036" cy="3468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i="0" dirty="0">
                  <a:effectLst/>
                  <a:latin typeface="Baloo Thambi 2" panose="03080502040302020200" pitchFamily="66" charset="77"/>
                  <a:cs typeface="Baloo Thambi 2" panose="03080502040302020200" pitchFamily="66" charset="77"/>
                </a:rPr>
                <a:t>arXiv:2301.04657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C8ED323-E78A-59E7-E721-D3A7143EAD75}"/>
              </a:ext>
            </a:extLst>
          </p:cNvPr>
          <p:cNvSpPr txBox="1"/>
          <p:nvPr/>
        </p:nvSpPr>
        <p:spPr>
          <a:xfrm>
            <a:off x="3900829" y="3794315"/>
            <a:ext cx="262462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Baloo Thambi 2" panose="03080502040302020200" pitchFamily="66" charset="77"/>
                <a:cs typeface="Baloo Thambi 2" panose="03080502040302020200" pitchFamily="66" charset="77"/>
              </a:rPr>
              <a:t>Jeet Shah, Gautam Nambiar, Alexey V. </a:t>
            </a:r>
            <a:r>
              <a:rPr lang="en-US" sz="7200" dirty="0" err="1">
                <a:latin typeface="Baloo Thambi 2" panose="03080502040302020200" pitchFamily="66" charset="77"/>
                <a:cs typeface="Baloo Thambi 2" panose="03080502040302020200" pitchFamily="66" charset="77"/>
              </a:rPr>
              <a:t>Gorshkov</a:t>
            </a:r>
            <a:r>
              <a:rPr lang="en-US" sz="7200" dirty="0">
                <a:latin typeface="Baloo Thambi 2" panose="03080502040302020200" pitchFamily="66" charset="77"/>
                <a:cs typeface="Baloo Thambi 2" panose="03080502040302020200" pitchFamily="66" charset="77"/>
              </a:rPr>
              <a:t>, and Victor </a:t>
            </a:r>
            <a:r>
              <a:rPr lang="en-US" sz="7200" dirty="0" err="1">
                <a:latin typeface="Baloo Thambi 2" panose="03080502040302020200" pitchFamily="66" charset="77"/>
                <a:cs typeface="Baloo Thambi 2" panose="03080502040302020200" pitchFamily="66" charset="77"/>
              </a:rPr>
              <a:t>Galitski</a:t>
            </a:r>
            <a:endParaRPr lang="en-US" sz="7200" dirty="0">
              <a:latin typeface="Baloo Thambi 2" panose="03080502040302020200" pitchFamily="66" charset="77"/>
              <a:cs typeface="Baloo Thambi 2" panose="03080502040302020200" pitchFamily="66" charset="77"/>
            </a:endParaRPr>
          </a:p>
        </p:txBody>
      </p:sp>
      <p:pic>
        <p:nvPicPr>
          <p:cNvPr id="10" name="Picture 2 1">
            <a:extLst>
              <a:ext uri="{FF2B5EF4-FFF2-40B4-BE49-F238E27FC236}">
                <a16:creationId xmlns:a16="http://schemas.microsoft.com/office/drawing/2014/main" id="{3E377CE8-D8E3-A2ED-C47C-79D1E73553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72" y="711163"/>
            <a:ext cx="4634891" cy="1331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7" name="Group 126">
            <a:extLst>
              <a:ext uri="{FF2B5EF4-FFF2-40B4-BE49-F238E27FC236}">
                <a16:creationId xmlns:a16="http://schemas.microsoft.com/office/drawing/2014/main" id="{2A6741E2-5A56-F863-63B7-E6EA753CC9FC}"/>
              </a:ext>
            </a:extLst>
          </p:cNvPr>
          <p:cNvGrpSpPr/>
          <p:nvPr/>
        </p:nvGrpSpPr>
        <p:grpSpPr>
          <a:xfrm>
            <a:off x="740225" y="5672740"/>
            <a:ext cx="15283547" cy="11285248"/>
            <a:chOff x="740225" y="5672740"/>
            <a:chExt cx="15283547" cy="11285248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0BFE36E-CBC2-14AA-929B-9946CDF7F79E}"/>
                </a:ext>
              </a:extLst>
            </p:cNvPr>
            <p:cNvCxnSpPr>
              <a:cxnSpLocks/>
            </p:cNvCxnSpPr>
            <p:nvPr/>
          </p:nvCxnSpPr>
          <p:spPr>
            <a:xfrm>
              <a:off x="13451993" y="1695798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6462F989-AB8B-6077-4E4F-97CC87792F1F}"/>
                </a:ext>
              </a:extLst>
            </p:cNvPr>
            <p:cNvSpPr/>
            <p:nvPr/>
          </p:nvSpPr>
          <p:spPr>
            <a:xfrm>
              <a:off x="740229" y="5672740"/>
              <a:ext cx="15283543" cy="11227071"/>
            </a:xfrm>
            <a:prstGeom prst="roundRect">
              <a:avLst>
                <a:gd name="adj" fmla="val 3026"/>
              </a:avLst>
            </a:prstGeom>
            <a:ln w="38100">
              <a:solidFill>
                <a:srgbClr val="0070C0"/>
              </a:solidFill>
            </a:ln>
            <a:effectLst>
              <a:outerShdw blurRad="308971" dist="38100" dir="2700000" sx="101000" sy="101000" algn="tl" rotWithShape="0">
                <a:prstClr val="black">
                  <a:alpha val="22000"/>
                </a:prstClr>
              </a:outerShd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0CD672A-B246-A8BA-0D3D-2B6FA7009E59}"/>
                </a:ext>
              </a:extLst>
            </p:cNvPr>
            <p:cNvSpPr txBox="1"/>
            <p:nvPr/>
          </p:nvSpPr>
          <p:spPr>
            <a:xfrm>
              <a:off x="740225" y="5807400"/>
              <a:ext cx="1528354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dirty="0">
                  <a:solidFill>
                    <a:srgbClr val="0070C0"/>
                  </a:solidFill>
                  <a:latin typeface="Baloo Thambi 2" panose="03080502040302020200" pitchFamily="66" charset="77"/>
                  <a:cs typeface="Baloo Thambi 2" panose="03080502040302020200" pitchFamily="66" charset="77"/>
                </a:rPr>
                <a:t>Background &amp; Motivation</a:t>
              </a:r>
            </a:p>
          </p:txBody>
        </p:sp>
        <p:pic>
          <p:nvPicPr>
            <p:cNvPr id="126" name="Picture 125" descr="\documentclass{article}&#10;\usepackage{amsmath,physics, wasysym, xcolor, geometry, amsfonts}&#10;\pagestyle{empty}&#10;\geometry{textwidth=10.6cm}&#10;\newcommand{\dual}[1]{\boldsymbol{\mathsf{#1}}}&#10;\begin{document}&#10;&#10;\begin{itemize}&#10;&#9;\item Quantum spin liquids(QSLs) are states which are disordered because of the quantum fluctuations and are highly entangled.&#10;&#9;\item They are typically described by the deconfined phases of gauge theories and exhibit fractionalization.&#10;&#9;\item They cannot be distinguished from ordered states by any local order parameter. Non-local order parameters are necessarily required which are difficult to measure in traditional condensed matter systems.&#10;&#9;&#10;&#9;\item Recently, signatures of a $\mathbb{Z}_2$ QSL were observed in a 2D Rydberg atom array (Semeghini et al.) and the toric code ground state was prepared at Google (Satzinger et al.).&#10;\item However, there is no conclusive evidence of a $U(1)$ QSL in any system so far, which is the focus of our work.&#10;\end{itemize}&#10;&#10;&#10;\end{document}" title="IguanaTex Bitmap Display">
              <a:extLst>
                <a:ext uri="{FF2B5EF4-FFF2-40B4-BE49-F238E27FC236}">
                  <a16:creationId xmlns:a16="http://schemas.microsoft.com/office/drawing/2014/main" id="{CA8093E9-7CF3-192B-8380-CF5FDE41AF0B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1260696" y="7206749"/>
              <a:ext cx="14478000" cy="9398000"/>
            </a:xfrm>
            <a:prstGeom prst="rect">
              <a:avLst/>
            </a:prstGeom>
          </p:spPr>
        </p:pic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4F0D17E1-6514-828D-5A5D-D4AED02EF069}"/>
              </a:ext>
            </a:extLst>
          </p:cNvPr>
          <p:cNvGrpSpPr/>
          <p:nvPr/>
        </p:nvGrpSpPr>
        <p:grpSpPr>
          <a:xfrm>
            <a:off x="16894628" y="39496999"/>
            <a:ext cx="15285656" cy="3631345"/>
            <a:chOff x="16894628" y="39496999"/>
            <a:chExt cx="15285656" cy="3631345"/>
          </a:xfrm>
        </p:grpSpPr>
        <p:sp>
          <p:nvSpPr>
            <p:cNvPr id="161" name="Rounded Rectangle 160">
              <a:extLst>
                <a:ext uri="{FF2B5EF4-FFF2-40B4-BE49-F238E27FC236}">
                  <a16:creationId xmlns:a16="http://schemas.microsoft.com/office/drawing/2014/main" id="{C132BC31-4D71-808C-CE47-44BFBB3AEDBC}"/>
                </a:ext>
              </a:extLst>
            </p:cNvPr>
            <p:cNvSpPr/>
            <p:nvPr/>
          </p:nvSpPr>
          <p:spPr>
            <a:xfrm>
              <a:off x="16894628" y="39496999"/>
              <a:ext cx="15283543" cy="3631345"/>
            </a:xfrm>
            <a:prstGeom prst="roundRect">
              <a:avLst>
                <a:gd name="adj" fmla="val 3026"/>
              </a:avLst>
            </a:prstGeom>
            <a:ln w="38100">
              <a:solidFill>
                <a:srgbClr val="0070C0"/>
              </a:solidFill>
            </a:ln>
            <a:effectLst>
              <a:outerShdw blurRad="304800" dist="38100" dir="2700000" sx="101000" sy="101000" algn="l" rotWithShape="0">
                <a:prstClr val="black">
                  <a:alpha val="22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1894E63-F68E-D280-15EE-556B2E9EFADE}"/>
                </a:ext>
              </a:extLst>
            </p:cNvPr>
            <p:cNvSpPr txBox="1"/>
            <p:nvPr/>
          </p:nvSpPr>
          <p:spPr>
            <a:xfrm>
              <a:off x="16896741" y="39620004"/>
              <a:ext cx="1528354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dirty="0">
                  <a:solidFill>
                    <a:srgbClr val="0070C0"/>
                  </a:solidFill>
                  <a:latin typeface="Baloo Thambi 2" panose="03080502040302020200" pitchFamily="66" charset="77"/>
                  <a:cs typeface="Baloo Thambi 2" panose="03080502040302020200" pitchFamily="66" charset="77"/>
                </a:rPr>
                <a:t>References</a:t>
              </a:r>
            </a:p>
          </p:txBody>
        </p:sp>
        <p:pic>
          <p:nvPicPr>
            <p:cNvPr id="152" name="Picture 151" descr="\documentclass{article}&#10;\usepackage{amsmath,physics, wasysym, xcolor, geometry, amsfonts, amsmath,physics, bm, wasysym, oplotsymbl, mathtools, yhmath}&#10;\usepackage{setspace}&#10;&#10;\pagestyle{empty}&#10;\geometry{textwidth=13cm}&#10;\newcommand{\dual}[1]{\boldsymbol{\mathsf{#1}}}&#10;\setstretch{-1}&#10;&#10;\begin{document}&#10;&#10;\begin{enumerate}&#10;\itemsep0em &#10;\item M. Hermele, M. P. A. Fisher, and L. Balents,  Phys. Rev. B \textbf{69}, 064404 (2004).&#10;\item N. Shannon, O. Sikora, F. Pollmann, K. Penc, and P. Fulde, Phys. Rev. Lett. \textbf{108}, 067204 (2012).&#10;\item R. Verresen, M. D. Lukin, and A. Vishwanath, Phys. Rev. X \textbf{11}, 031005 (2021).&#10;&#10;\end{enumerate}&#10;&#10;&#10;\end{document}" title="IguanaTex Bitmap Display">
              <a:extLst>
                <a:ext uri="{FF2B5EF4-FFF2-40B4-BE49-F238E27FC236}">
                  <a16:creationId xmlns:a16="http://schemas.microsoft.com/office/drawing/2014/main" id="{37C372B1-8CBB-B647-8707-888D9D5EED36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17362115" y="40813760"/>
              <a:ext cx="14427199" cy="2032000"/>
            </a:xfrm>
            <a:prstGeom prst="rect">
              <a:avLst/>
            </a:prstGeom>
          </p:spPr>
        </p:pic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3223EBB2-3D8F-CEAC-97EE-B4638781DF09}"/>
              </a:ext>
            </a:extLst>
          </p:cNvPr>
          <p:cNvGrpSpPr/>
          <p:nvPr/>
        </p:nvGrpSpPr>
        <p:grpSpPr>
          <a:xfrm>
            <a:off x="16894628" y="17562627"/>
            <a:ext cx="15283543" cy="14104621"/>
            <a:chOff x="16894628" y="16881595"/>
            <a:chExt cx="15283543" cy="14104621"/>
          </a:xfrm>
        </p:grpSpPr>
        <p:sp>
          <p:nvSpPr>
            <p:cNvPr id="128" name="Rounded Rectangle 127">
              <a:extLst>
                <a:ext uri="{FF2B5EF4-FFF2-40B4-BE49-F238E27FC236}">
                  <a16:creationId xmlns:a16="http://schemas.microsoft.com/office/drawing/2014/main" id="{50E4C377-1AFE-E782-D361-94B7873E2276}"/>
                </a:ext>
              </a:extLst>
            </p:cNvPr>
            <p:cNvSpPr/>
            <p:nvPr/>
          </p:nvSpPr>
          <p:spPr>
            <a:xfrm>
              <a:off x="16894628" y="16881595"/>
              <a:ext cx="15283543" cy="14104621"/>
            </a:xfrm>
            <a:prstGeom prst="roundRect">
              <a:avLst>
                <a:gd name="adj" fmla="val 3026"/>
              </a:avLst>
            </a:prstGeom>
            <a:ln w="38100">
              <a:solidFill>
                <a:srgbClr val="0070C0"/>
              </a:solidFill>
            </a:ln>
            <a:effectLst>
              <a:outerShdw blurRad="304800" dist="38100" dir="2700000" sx="101000" sy="101000" algn="l" rotWithShape="0">
                <a:prstClr val="black">
                  <a:alpha val="22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F07B8A68-4802-6B7E-9C0D-5A6CBBB41F57}"/>
                </a:ext>
              </a:extLst>
            </p:cNvPr>
            <p:cNvSpPr txBox="1"/>
            <p:nvPr/>
          </p:nvSpPr>
          <p:spPr>
            <a:xfrm>
              <a:off x="16933944" y="17067996"/>
              <a:ext cx="1524422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dirty="0">
                  <a:solidFill>
                    <a:srgbClr val="0070C0"/>
                  </a:solidFill>
                  <a:latin typeface="Baloo Thambi 2" panose="03080502040302020200" pitchFamily="66" charset="77"/>
                  <a:cs typeface="Baloo Thambi 2" panose="03080502040302020200" pitchFamily="66" charset="77"/>
                </a:rPr>
                <a:t>Diagnosis of the QSL</a:t>
              </a:r>
            </a:p>
          </p:txBody>
        </p:sp>
        <p:pic>
          <p:nvPicPr>
            <p:cNvPr id="156" name="Picture 155" descr="\documentclass{article}&#10;\usepackage{amsmath,physics, wasysym, xcolor, geometry, amsfonts, amsmath,physics, bm, wasysym, oplotsymbl, mathtools, yhmath}&#10;\pagestyle{empty}&#10;\geometry{textwidth=10.6cm}&#10;\newcommand{\dual}[1]{\boldsymbol{\mathsf{#1}}}&#10;\usepackage{setspace}&#10;\setstretch{0.9}&#10;\begin{document}&#10;&#10;\begin{itemize}&#10;\itemsep0em &#10;&#9;\item Following correlators can distinguish between the phases.&#10;&#9;\item Plaquette-plaquette correlators: These tell if the photon is gapless. The correlators are, $\langle \hat{X}_P \hat{X}_{P'} \rangle$ and $\langle \hat{Y}_P \hat{Y}_{P'} \rangle$, where&#10;\begin{equation*}&#10;\hat{X}_{P} =  \left( \hat{S}_1^+ \hat{S}_2^-\hat{S}_3^+\hat{S}_4^-\hat{S}_5^+\hat{S}_6^-   + \text{H.c.} \right) &#10;\end{equation*}&#10;\begin{equation*}&#10; \hat{Y}_{P} = -i \hat{S}_1^+ \hat{S}_2^-\hat{S}_3^+\hat{S}_4^-\hat{S}_5^+\hat{S}_6^-   + \text{H.c.}&#10;\end{equation*}&#10;&#10;\item Monopole correlator shown below, decays exponentially in the QSL phase and is a nonzero constant in the confined phase. &#10;\begin{equation*}&#10;   \expval{  \hat{\mathcal{M}}^\dagger \hat{\mathcal{M}} (\dual{r}_1\rightarrow \dual{r}_2) } = \expval{ e^{i\sum_{\bm{x}\in \text{pyrochlore}}\mathcal{A}_{\bm{x}}  \left(\hat{n}_{\bm{x}}-1/2\right)} }&#10;\end{equation*}&#10;&#10;\item Bricmont-Fr{\&quot;o}lich-Fredenhagen-Marcu (BFFM) order parameters shown below are exponentially small in the QSL while are nonzero constants in the ordered phases.&#10;\begin{equation*}&#10;\chi_{\mathcal{C}}^E = \frac{\abs{ \expval{ e^{i\sum_\mathcal{C} \hat{a}_{\vb{r}\vb{r}'}  } +\text{H.c.} } } }{\sqrt{ \abs{ \expval{ e^{i \sum_{\mathcal{L}} \hat{a}_{\vb{r} \vb{r}'} } + \text{H.c.} }  }}} \;\;\;,\;\;\; \chi_{\mathcal{C}}^M = \frac{\expval{ \hat{\mathcal{M}}^{\dagger} \hat{\mathcal{M}}\left(\dual{r}_1 \xrightarrow{\mathcal{C}} \dual{r}_2\right) } }{  \sqrt{\expval{ \hat{\mathcal{M}}^{\dagger} \hat{\mathcal{M}}\left(\dual{r}_1 \xrightarrow{\mathcal{L}} \dual{r}_1\right)}}  }&#10;\end{equation*}&#10;&#10;&#10;\end{itemize}&#10;&#10;&#10;\end{document}" title="IguanaTex Bitmap Display">
              <a:extLst>
                <a:ext uri="{FF2B5EF4-FFF2-40B4-BE49-F238E27FC236}">
                  <a16:creationId xmlns:a16="http://schemas.microsoft.com/office/drawing/2014/main" id="{14D33E81-FA64-B708-0DFB-873A1B9DEA2B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>
              <a:off x="17336715" y="18461464"/>
              <a:ext cx="14681200" cy="11988800"/>
            </a:xfrm>
            <a:prstGeom prst="rect">
              <a:avLst/>
            </a:prstGeom>
          </p:spPr>
        </p:pic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2FD67A3F-3B87-E208-2961-A5AF3F4BD93B}"/>
              </a:ext>
            </a:extLst>
          </p:cNvPr>
          <p:cNvGrpSpPr/>
          <p:nvPr/>
        </p:nvGrpSpPr>
        <p:grpSpPr>
          <a:xfrm>
            <a:off x="16887970" y="32251487"/>
            <a:ext cx="15283543" cy="6660721"/>
            <a:chOff x="16855312" y="31260889"/>
            <a:chExt cx="15283543" cy="6660721"/>
          </a:xfrm>
        </p:grpSpPr>
        <p:sp>
          <p:nvSpPr>
            <p:cNvPr id="193" name="Rounded Rectangle 192">
              <a:extLst>
                <a:ext uri="{FF2B5EF4-FFF2-40B4-BE49-F238E27FC236}">
                  <a16:creationId xmlns:a16="http://schemas.microsoft.com/office/drawing/2014/main" id="{D411CAB4-6233-BAE5-A96F-E8BADFDBE340}"/>
                </a:ext>
              </a:extLst>
            </p:cNvPr>
            <p:cNvSpPr/>
            <p:nvPr/>
          </p:nvSpPr>
          <p:spPr>
            <a:xfrm>
              <a:off x="16855312" y="31260889"/>
              <a:ext cx="15283543" cy="6660721"/>
            </a:xfrm>
            <a:prstGeom prst="roundRect">
              <a:avLst>
                <a:gd name="adj" fmla="val 3026"/>
              </a:avLst>
            </a:prstGeom>
            <a:ln w="38100">
              <a:solidFill>
                <a:srgbClr val="0070C0"/>
              </a:solidFill>
            </a:ln>
            <a:effectLst>
              <a:outerShdw blurRad="304800" dist="38100" dir="2700000" sx="101000" sy="101000" algn="l" rotWithShape="0">
                <a:prstClr val="black">
                  <a:alpha val="22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06607B09-2E38-B54B-FA34-2679A77B4DC0}"/>
                </a:ext>
              </a:extLst>
            </p:cNvPr>
            <p:cNvSpPr txBox="1"/>
            <p:nvPr/>
          </p:nvSpPr>
          <p:spPr>
            <a:xfrm>
              <a:off x="16894628" y="31447290"/>
              <a:ext cx="1524422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dirty="0">
                  <a:solidFill>
                    <a:srgbClr val="0070C0"/>
                  </a:solidFill>
                  <a:latin typeface="Baloo Thambi 2" panose="03080502040302020200" pitchFamily="66" charset="77"/>
                  <a:cs typeface="Baloo Thambi 2" panose="03080502040302020200" pitchFamily="66" charset="77"/>
                </a:rPr>
                <a:t>Results</a:t>
              </a:r>
            </a:p>
          </p:txBody>
        </p:sp>
        <p:pic>
          <p:nvPicPr>
            <p:cNvPr id="148" name="Picture 147" descr="\documentclass{article}&#10;\usepackage{amsmath,physics, wasysym, xcolor, geometry, amsfonts, amsmath,physics, bm, wasysym, oplotsymbl, mathtools, yhmath}&#10;\pagestyle{empty}&#10;\geometry{textwidth=10.6cm}&#10;\newcommand{\dual}[1]{\boldsymbol{\mathsf{#1}}}&#10;\begin{document}&#10;&#10;\begin{itemize}&#10;\item We find that the system is in a $U(1)$ QSL phase in a window of detunings and Rabi frequencies.&#10;\item The Higgs transition and the confinement-deconfinement transition can be accessed by varying the Rabi frequency.&#10;\item We comment on the state preparation and propose various correlators including non-local correlators that can distinguish the phases. We also provide protocols to measure them.&#10;&#10;&#10;\end{itemize}&#10;&#10;&#10;\end{document}" title="IguanaTex Bitmap Display">
              <a:extLst>
                <a:ext uri="{FF2B5EF4-FFF2-40B4-BE49-F238E27FC236}">
                  <a16:creationId xmlns:a16="http://schemas.microsoft.com/office/drawing/2014/main" id="{3205A84C-A50C-9564-4102-51672681735B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>
              <a:off x="17313728" y="32654683"/>
              <a:ext cx="14528800" cy="4927600"/>
            </a:xfrm>
            <a:prstGeom prst="rect">
              <a:avLst/>
            </a:prstGeom>
          </p:spPr>
        </p:pic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0C81428F-6115-00B7-A92B-B9FDB385A38C}"/>
              </a:ext>
            </a:extLst>
          </p:cNvPr>
          <p:cNvGrpSpPr/>
          <p:nvPr/>
        </p:nvGrpSpPr>
        <p:grpSpPr>
          <a:xfrm>
            <a:off x="16894628" y="5691207"/>
            <a:ext cx="15299871" cy="11275908"/>
            <a:chOff x="16894628" y="5691207"/>
            <a:chExt cx="15299871" cy="11275908"/>
          </a:xfrm>
        </p:grpSpPr>
        <p:sp>
          <p:nvSpPr>
            <p:cNvPr id="112" name="Rounded Rectangle 111">
              <a:extLst>
                <a:ext uri="{FF2B5EF4-FFF2-40B4-BE49-F238E27FC236}">
                  <a16:creationId xmlns:a16="http://schemas.microsoft.com/office/drawing/2014/main" id="{2B52EDBB-6E04-F9DA-4996-2BFEF447F85E}"/>
                </a:ext>
              </a:extLst>
            </p:cNvPr>
            <p:cNvSpPr/>
            <p:nvPr/>
          </p:nvSpPr>
          <p:spPr>
            <a:xfrm>
              <a:off x="16894630" y="5691207"/>
              <a:ext cx="15283543" cy="11275908"/>
            </a:xfrm>
            <a:prstGeom prst="roundRect">
              <a:avLst>
                <a:gd name="adj" fmla="val 3026"/>
              </a:avLst>
            </a:prstGeom>
            <a:ln w="38100">
              <a:solidFill>
                <a:srgbClr val="0070C0"/>
              </a:solidFill>
            </a:ln>
            <a:effectLst>
              <a:outerShdw blurRad="304800" dist="38100" dir="2700000" sx="101000" sy="101000" algn="l" rotWithShape="0">
                <a:prstClr val="black">
                  <a:alpha val="22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087940B6-E5BB-4971-3828-58389C12B4C6}"/>
                </a:ext>
              </a:extLst>
            </p:cNvPr>
            <p:cNvSpPr txBox="1"/>
            <p:nvPr/>
          </p:nvSpPr>
          <p:spPr>
            <a:xfrm>
              <a:off x="16894628" y="5892102"/>
              <a:ext cx="1529987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dirty="0">
                  <a:solidFill>
                    <a:srgbClr val="0070C0"/>
                  </a:solidFill>
                  <a:latin typeface="Baloo Thambi 2" panose="03080502040302020200" pitchFamily="66" charset="77"/>
                  <a:cs typeface="Baloo Thambi 2" panose="03080502040302020200" pitchFamily="66" charset="77"/>
                </a:rPr>
                <a:t>Phase diagram</a:t>
              </a: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B3FDC5BF-A265-B9A4-BD99-D6EDA8562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7510705" y="9195679"/>
              <a:ext cx="8766567" cy="3286764"/>
            </a:xfrm>
            <a:prstGeom prst="rect">
              <a:avLst/>
            </a:prstGeom>
          </p:spPr>
        </p:pic>
        <p:pic>
          <p:nvPicPr>
            <p:cNvPr id="140" name="Picture 139" descr="\documentclass{article}&#10;\usepackage{amsmath,physics, wasysym, xcolor, geometry, amsfonts, amsmath,physics, bm, wasysym, oplotsymbl, mathtools, yhmath}&#10;\pagestyle{empty}&#10;\geometry{textwidth=10.6cm}&#10;\newcommand{\dual}[1]{\boldsymbol{\mathsf{#1}}}&#10;\begin{document}&#10;&#10;\begin{itemize}&#10;&#9;\item A QSL state can be prepared in two ways: (1) Adiabatic preparation where one starts with $\delta \ll -V$ and $\Omega \ll V$ and tunes $\delta$ and $\Omega$ adibatically to the desired region. (2) Start with $\delta \ll -V$, $\Omega \ll V$ and evolve the system adiabatically w.r.t the spinons but suddenly w.r.t the monopoles. This projects out the states outside the ice manifold and prepares the RK wavefunction.&#10;\end{itemize}&#10;&#10;&#10;&#10;\end{document}" title="IguanaTex Bitmap Display">
              <a:extLst>
                <a:ext uri="{FF2B5EF4-FFF2-40B4-BE49-F238E27FC236}">
                  <a16:creationId xmlns:a16="http://schemas.microsoft.com/office/drawing/2014/main" id="{751A5304-AEFA-0025-1F6A-F915F9565231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1"/>
            <a:stretch>
              <a:fillRect/>
            </a:stretch>
          </p:blipFill>
          <p:spPr>
            <a:xfrm>
              <a:off x="17336715" y="13024277"/>
              <a:ext cx="14478000" cy="3505200"/>
            </a:xfrm>
            <a:prstGeom prst="rect">
              <a:avLst/>
            </a:prstGeom>
          </p:spPr>
        </p:pic>
        <p:pic>
          <p:nvPicPr>
            <p:cNvPr id="136" name="Picture 135" descr="\documentclass{article}&#10;\usepackage{amsmath,physics, wasysym, xcolor, geometry, amsfonts, amsmath,physics, bm, wasysym, oplotsymbl, mathtools, yhmath}&#10;\pagestyle{empty}&#10;\geometry{textwidth=10.6cm}&#10;\newcommand{\dual}[1]{\boldsymbol{\mathsf{#1}}}&#10;\begin{document}&#10;&#10;\begin{itemize}&#10;&#10; &#9;\item The phase diagram is determined by calculating $\langle \hat{H}_\text{eff} \rangle$ in $\ket{\psi_{IFM}}$, ordered and $\ket{\psi_{RK}}$, QSL phases. The latter is calculated using classical Monte Carlo.&#10;\end{itemize}&#10;&#10;&#10;\end{document}" title="IguanaTex Bitmap Display">
              <a:extLst>
                <a:ext uri="{FF2B5EF4-FFF2-40B4-BE49-F238E27FC236}">
                  <a16:creationId xmlns:a16="http://schemas.microsoft.com/office/drawing/2014/main" id="{FEF2AFCE-5B10-1C50-AC42-A9E49517E476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17336715" y="6919329"/>
              <a:ext cx="14579600" cy="1727200"/>
            </a:xfrm>
            <a:prstGeom prst="rect">
              <a:avLst/>
            </a:prstGeom>
          </p:spPr>
        </p:pic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25AC6D4C-DC4B-6CA7-A7EF-76FBF6D171E2}"/>
              </a:ext>
            </a:extLst>
          </p:cNvPr>
          <p:cNvGrpSpPr/>
          <p:nvPr/>
        </p:nvGrpSpPr>
        <p:grpSpPr>
          <a:xfrm>
            <a:off x="740229" y="17495323"/>
            <a:ext cx="15283543" cy="25721505"/>
            <a:chOff x="740229" y="17495323"/>
            <a:chExt cx="15283543" cy="25721505"/>
          </a:xfrm>
        </p:grpSpPr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F0B3FFEC-0168-A105-4AD0-2EB307A39ACE}"/>
                </a:ext>
              </a:extLst>
            </p:cNvPr>
            <p:cNvSpPr/>
            <p:nvPr/>
          </p:nvSpPr>
          <p:spPr>
            <a:xfrm>
              <a:off x="740229" y="17495323"/>
              <a:ext cx="15283543" cy="25721505"/>
            </a:xfrm>
            <a:prstGeom prst="roundRect">
              <a:avLst>
                <a:gd name="adj" fmla="val 3026"/>
              </a:avLst>
            </a:prstGeom>
            <a:ln w="38100">
              <a:solidFill>
                <a:srgbClr val="0070C0"/>
              </a:solidFill>
            </a:ln>
            <a:effectLst>
              <a:outerShdw blurRad="304800" dist="38100" dir="2700000" sx="101000" sy="101000" algn="l" rotWithShape="0">
                <a:prstClr val="black">
                  <a:alpha val="22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1AF3870-15CC-85FA-36CB-FC3817477FA1}"/>
                </a:ext>
              </a:extLst>
            </p:cNvPr>
            <p:cNvSpPr txBox="1"/>
            <p:nvPr/>
          </p:nvSpPr>
          <p:spPr>
            <a:xfrm>
              <a:off x="776801" y="17651187"/>
              <a:ext cx="1524696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dirty="0">
                  <a:solidFill>
                    <a:srgbClr val="0070C0"/>
                  </a:solidFill>
                  <a:latin typeface="Baloo Thambi 2" panose="03080502040302020200" pitchFamily="66" charset="77"/>
                  <a:cs typeface="Baloo Thambi 2" panose="03080502040302020200" pitchFamily="66" charset="77"/>
                </a:rPr>
                <a:t>The model</a:t>
              </a:r>
            </a:p>
          </p:txBody>
        </p:sp>
        <p:pic>
          <p:nvPicPr>
            <p:cNvPr id="72" name="Content Placeholder 17" descr="A picture containing art, symmetry, triangle, line&#10;&#10;Description automatically generated">
              <a:extLst>
                <a:ext uri="{FF2B5EF4-FFF2-40B4-BE49-F238E27FC236}">
                  <a16:creationId xmlns:a16="http://schemas.microsoft.com/office/drawing/2014/main" id="{B5A5ECCC-A7E8-2EA6-2CE6-8838E1AD8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5211039" y="22296264"/>
              <a:ext cx="4597400" cy="4025900"/>
            </a:xfrm>
            <a:prstGeom prst="rect">
              <a:avLst/>
            </a:prstGeom>
          </p:spPr>
        </p:pic>
        <p:pic>
          <p:nvPicPr>
            <p:cNvPr id="132" name="Picture 131" descr="\documentclass{article}&#10;\usepackage{amsmath,physics, wasysym, xcolor, geometry, amsfonts, amsmath,physics, bm, wasysym, oplotsymbl, mathtools, yhmath}&#10;\pagestyle{empty}&#10;\geometry{textwidth=10.6cm}&#10;\newcommand{\dual}[1]{\boldsymbol{\mathsf{#1}}}&#10;\begin{document}&#10;&#10;\begin{itemize}&#10;&#9;\item First, we assume that $\Omega \ll V, \delta$ and ignore the long-range interactions. Their effects will be considered later. The Hamiltonian can now be written as&#10;\begin{equation*}&#10;    \hat{H} = \underbrace{\frac{V}{2} \sum_{\text{tet}} \left( \hat{n}_{\text{tet}} -\rho \right)^2}_{\hat{H}_0} + \underbrace{\frac{\Omega}{2} \sum_i \left( \hat{b}_i + \hat{b}_i^\dagger \right)}_{\hat{H}_\Omega}&#10;\end{equation*}&#10;\item Treating $\hat{H}_\Omega$ as a perturbation over $\hat{H}_0$ gives ring exchange terms at sixth order. By adding a Rokhsar-Kivelson (RK) potential term, one can go to the RK point near which the system is a $U(1)$ QSL$^{[1]}$.&#10;\end{itemize}&#10;&#10;&#10;\end{document}" title="IguanaTex Bitmap Display">
              <a:extLst>
                <a:ext uri="{FF2B5EF4-FFF2-40B4-BE49-F238E27FC236}">
                  <a16:creationId xmlns:a16="http://schemas.microsoft.com/office/drawing/2014/main" id="{9E5D9685-07B0-B5C4-B534-1B27B3606481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24"/>
            <a:stretch>
              <a:fillRect/>
            </a:stretch>
          </p:blipFill>
          <p:spPr>
            <a:xfrm>
              <a:off x="1182313" y="26703431"/>
              <a:ext cx="14478000" cy="7518400"/>
            </a:xfrm>
            <a:prstGeom prst="rect">
              <a:avLst/>
            </a:prstGeom>
          </p:spPr>
        </p:pic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FD75AF6-4376-BDF1-E795-BCA234118E5D}"/>
                </a:ext>
              </a:extLst>
            </p:cNvPr>
            <p:cNvSpPr/>
            <p:nvPr/>
          </p:nvSpPr>
          <p:spPr>
            <a:xfrm>
              <a:off x="3613358" y="20285212"/>
              <a:ext cx="2077414" cy="1696848"/>
            </a:xfrm>
            <a:prstGeom prst="rect">
              <a:avLst/>
            </a:prstGeom>
            <a:solidFill>
              <a:srgbClr val="00B050">
                <a:alpha val="29804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D5D10512-561A-07F4-8B27-F20EFF1829A1}"/>
                </a:ext>
              </a:extLst>
            </p:cNvPr>
            <p:cNvSpPr/>
            <p:nvPr/>
          </p:nvSpPr>
          <p:spPr>
            <a:xfrm>
              <a:off x="12218085" y="20285212"/>
              <a:ext cx="3442228" cy="1696848"/>
            </a:xfrm>
            <a:prstGeom prst="rect">
              <a:avLst/>
            </a:prstGeom>
            <a:solidFill>
              <a:srgbClr val="FF0000">
                <a:alpha val="29804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138751A4-773C-AEFC-1016-DC9B3227D942}"/>
                </a:ext>
              </a:extLst>
            </p:cNvPr>
            <p:cNvSpPr/>
            <p:nvPr/>
          </p:nvSpPr>
          <p:spPr>
            <a:xfrm>
              <a:off x="6156500" y="20285212"/>
              <a:ext cx="5595857" cy="1696848"/>
            </a:xfrm>
            <a:prstGeom prst="rect">
              <a:avLst/>
            </a:prstGeom>
            <a:solidFill>
              <a:srgbClr val="00B0F0">
                <a:alpha val="29804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B99F56DD-4B86-D681-79CE-BD7BB042EAEC}"/>
                </a:ext>
              </a:extLst>
            </p:cNvPr>
            <p:cNvSpPr txBox="1"/>
            <p:nvPr/>
          </p:nvSpPr>
          <p:spPr>
            <a:xfrm>
              <a:off x="13080630" y="19831813"/>
              <a:ext cx="171713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0000"/>
                  </a:solidFill>
                  <a:latin typeface="Baloo Thambi 2" panose="03080502040302020200" pitchFamily="66" charset="77"/>
                  <a:cs typeface="Baloo Thambi 2" panose="03080502040302020200" pitchFamily="66" charset="77"/>
                </a:rPr>
                <a:t>Rabi drive</a:t>
              </a:r>
              <a:endParaRPr lang="en-US" sz="2800" dirty="0">
                <a:latin typeface="Baloo Thambi 2" panose="03080502040302020200" pitchFamily="66" charset="77"/>
                <a:cs typeface="Baloo Thambi 2" panose="03080502040302020200" pitchFamily="66" charset="77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44640D6B-60F5-06B1-363B-C8E8659FFCB6}"/>
                </a:ext>
              </a:extLst>
            </p:cNvPr>
            <p:cNvSpPr txBox="1"/>
            <p:nvPr/>
          </p:nvSpPr>
          <p:spPr>
            <a:xfrm>
              <a:off x="6894408" y="19863911"/>
              <a:ext cx="4120039" cy="8002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00B0F0"/>
                  </a:solidFill>
                  <a:latin typeface="Baloo Thambi 2" panose="03080502040302020200" pitchFamily="66" charset="77"/>
                  <a:cs typeface="Baloo Thambi 2" panose="03080502040302020200" pitchFamily="66" charset="77"/>
                </a:rPr>
                <a:t>Van der Waals Interaction</a:t>
              </a:r>
            </a:p>
            <a:p>
              <a:endParaRPr lang="en-US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B6320F85-9889-B702-4BB0-01DC849A649E}"/>
                </a:ext>
              </a:extLst>
            </p:cNvPr>
            <p:cNvSpPr txBox="1"/>
            <p:nvPr/>
          </p:nvSpPr>
          <p:spPr>
            <a:xfrm>
              <a:off x="3408776" y="19810271"/>
              <a:ext cx="2486578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00B050"/>
                  </a:solidFill>
                  <a:latin typeface="Baloo Thambi 2" panose="03080502040302020200" pitchFamily="66" charset="77"/>
                  <a:cs typeface="Baloo Thambi 2" panose="03080502040302020200" pitchFamily="66" charset="77"/>
                </a:rPr>
                <a:t>Laser detuning</a:t>
              </a:r>
            </a:p>
            <a:p>
              <a:endParaRPr lang="en-US" sz="2800" dirty="0"/>
            </a:p>
          </p:txBody>
        </p:sp>
        <p:pic>
          <p:nvPicPr>
            <p:cNvPr id="190" name="Picture 189" descr="\documentclass{article}&#10;\usepackage{amsmath,physics, wasysym, xcolor, geometry, amsfonts, amsmath,physics, bm, wasysym, oplotsymbl, mathtools, yhmath}&#10;\pagestyle{empty}&#10;\geometry{textwidth=10.6cm}&#10;\newcommand{\dual}[1]{\boldsymbol{\mathsf{#1}}}&#10;\begin{document}&#10;&#10;\begin{itemize}&#10;&#9;\item When the long-range interactions are considered, we show that the ground state is a $\mathbf{0}$ momentum state in the ice manifold when $\Omega = 0$. We call it the ice ferromagnet (ice FM) state, $\ket{\psi_{IFM}}$.&#10;&#9;\item For $\Omega \neq 0$, we treat both the long-range interactions and the Rabi drive upto sixth order in perturbation theory and obtain the effective Hamiltonian, $\hat{H}_\text{eff}$.&#10;\end{itemize}&#10;&#10;&#10;\end{document}" title="IguanaTex Bitmap Display">
              <a:extLst>
                <a:ext uri="{FF2B5EF4-FFF2-40B4-BE49-F238E27FC236}">
                  <a16:creationId xmlns:a16="http://schemas.microsoft.com/office/drawing/2014/main" id="{CF18FB65-51D4-A64C-BE15-C0CEE0A9D60F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5"/>
            <a:stretch>
              <a:fillRect/>
            </a:stretch>
          </p:blipFill>
          <p:spPr>
            <a:xfrm>
              <a:off x="1260696" y="38574111"/>
              <a:ext cx="14478000" cy="3911600"/>
            </a:xfrm>
            <a:prstGeom prst="rect">
              <a:avLst/>
            </a:prstGeom>
          </p:spPr>
        </p:pic>
        <p:pic>
          <p:nvPicPr>
            <p:cNvPr id="91" name="Picture 90" descr="\documentclass{article}&#10;\usepackage{amsmath,physics, wasysym, xcolor, geometry, amsfonts, amsmath,physics, bm, wasysym, oplotsymbl, mathtools, yhmath}&#10;\pagestyle{empty}&#10;\geometry{textwidth=10.6cm}&#10;\newcommand{\dual}[1]{\boldsymbol{\mathsf{#1}}}&#10;\begin{document}&#10;&#10;\begin{itemize}&#10;&#9;\item Consider netural atoms trapped on the sites of a pyrochlore lattice using optical tweezers. The Hamiltonian is given by&#10;\begin{equation*}&#10;  \hat{H}_{\text{ryd}} = -\delta \sum_i \hat{n}_i + \frac{V}{2} \sum_{i \neq j} \left( \frac{a}{|\bm{x}_i -\bm{x}_j|} \right)^6 \hat{n}_i \hat{n}_j+\frac{\Omega}{2} \sum_i (\hat{b}_i + \hat{b}_i^\dagger )&#10;\end{equation*}&#10;\end{itemize}&#10;&#10;&#10;\end{document}" title="IguanaTex Bitmap Display">
              <a:extLst>
                <a:ext uri="{FF2B5EF4-FFF2-40B4-BE49-F238E27FC236}">
                  <a16:creationId xmlns:a16="http://schemas.microsoft.com/office/drawing/2014/main" id="{7DF68570-2EB9-E963-70B5-84A793448134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6"/>
            <a:stretch>
              <a:fillRect/>
            </a:stretch>
          </p:blipFill>
          <p:spPr>
            <a:xfrm>
              <a:off x="1142997" y="18745940"/>
              <a:ext cx="14478000" cy="3149600"/>
            </a:xfrm>
            <a:prstGeom prst="rect">
              <a:avLst/>
            </a:prstGeom>
          </p:spPr>
        </p:pic>
      </p:grpSp>
      <p:pic>
        <p:nvPicPr>
          <p:cNvPr id="1028" name="Picture 4" descr="University of Maryland Logo">
            <a:extLst>
              <a:ext uri="{FF2B5EF4-FFF2-40B4-BE49-F238E27FC236}">
                <a16:creationId xmlns:a16="http://schemas.microsoft.com/office/drawing/2014/main" id="{F40394D6-2AE1-16D3-8802-2F3F1392B6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3544" y="762855"/>
            <a:ext cx="4770849" cy="2681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97BFB89C-2451-9828-47A3-4317DF4B248D}"/>
              </a:ext>
            </a:extLst>
          </p:cNvPr>
          <p:cNvGrpSpPr/>
          <p:nvPr/>
        </p:nvGrpSpPr>
        <p:grpSpPr>
          <a:xfrm>
            <a:off x="10743779" y="23028541"/>
            <a:ext cx="1678803" cy="764431"/>
            <a:chOff x="9330040" y="2524565"/>
            <a:chExt cx="1678803" cy="764431"/>
          </a:xfrm>
        </p:grpSpPr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B356500B-9081-B461-386C-CD96AA8DC4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9330040" y="3084117"/>
              <a:ext cx="104959" cy="104959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53B8048E-2E8D-0E2C-4E98-5AC6384F1A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9330040" y="2619238"/>
              <a:ext cx="115455" cy="115455"/>
            </a:xfrm>
            <a:prstGeom prst="rect">
              <a:avLst/>
            </a:prstGeom>
          </p:spPr>
        </p:pic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52570354-4CAB-02F6-4386-1FF86ACE4856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0"/>
            <a:stretch>
              <a:fillRect/>
            </a:stretch>
          </p:blipFill>
          <p:spPr>
            <a:xfrm>
              <a:off x="9621393" y="2524565"/>
              <a:ext cx="1387450" cy="304800"/>
            </a:xfrm>
            <a:prstGeom prst="rect">
              <a:avLst/>
            </a:prstGeom>
          </p:spPr>
        </p:pic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91036F39-AAAB-4DC0-3DC9-58869F513146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31"/>
            <a:stretch>
              <a:fillRect/>
            </a:stretch>
          </p:blipFill>
          <p:spPr>
            <a:xfrm>
              <a:off x="9621393" y="2984196"/>
              <a:ext cx="1377696" cy="304800"/>
            </a:xfrm>
            <a:prstGeom prst="rect">
              <a:avLst/>
            </a:prstGeom>
          </p:spPr>
        </p:pic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B9F42351-FCA3-F0D4-3C3D-93D4BD988382}"/>
              </a:ext>
            </a:extLst>
          </p:cNvPr>
          <p:cNvGrpSpPr/>
          <p:nvPr/>
        </p:nvGrpSpPr>
        <p:grpSpPr>
          <a:xfrm>
            <a:off x="3201607" y="34490614"/>
            <a:ext cx="10360779" cy="3294443"/>
            <a:chOff x="1497229" y="2799288"/>
            <a:chExt cx="6149541" cy="1955385"/>
          </a:xfrm>
        </p:grpSpPr>
        <p:pic>
          <p:nvPicPr>
            <p:cNvPr id="110" name="Picture 109" descr="A picture containing text, worktable&#10;&#10;Description automatically generated">
              <a:extLst>
                <a:ext uri="{FF2B5EF4-FFF2-40B4-BE49-F238E27FC236}">
                  <a16:creationId xmlns:a16="http://schemas.microsoft.com/office/drawing/2014/main" id="{E77AFD24-5025-3243-571E-4A0DED10B8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7229" y="2799288"/>
              <a:ext cx="6149541" cy="1955385"/>
            </a:xfrm>
            <a:prstGeom prst="rect">
              <a:avLst/>
            </a:prstGeom>
          </p:spPr>
        </p:pic>
        <p:pic>
          <p:nvPicPr>
            <p:cNvPr id="111" name="Picture 110" descr="\documentclass{article}&#10;\usepackage{amsmath,physics}&#10;\pagestyle{empty}&#10;\begin{document}&#10;&#10;&#10;$J_\text{ring}=\frac{63\Omega^6}{16V^5}$&#10;&#10;\end{document}" title="IguanaTex Bitmap Display">
              <a:extLst>
                <a:ext uri="{FF2B5EF4-FFF2-40B4-BE49-F238E27FC236}">
                  <a16:creationId xmlns:a16="http://schemas.microsoft.com/office/drawing/2014/main" id="{64DFFB83-5631-5279-CD53-6FBFC10F1A66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00097" y="3399142"/>
              <a:ext cx="1143803" cy="304132"/>
            </a:xfrm>
            <a:prstGeom prst="rect">
              <a:avLst/>
            </a:prstGeom>
          </p:spPr>
        </p:pic>
      </p:grpSp>
      <p:pic>
        <p:nvPicPr>
          <p:cNvPr id="104" name="Picture 103" descr="A picture containing text, screenshot, line, graphics&#10;&#10;Description automatically generated">
            <a:extLst>
              <a:ext uri="{FF2B5EF4-FFF2-40B4-BE49-F238E27FC236}">
                <a16:creationId xmlns:a16="http://schemas.microsoft.com/office/drawing/2014/main" id="{99FCC961-7071-A42E-1366-FCE7789CC327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6933528" y="8737658"/>
            <a:ext cx="4881187" cy="383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7934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2.4784"/>
  <p:tag name="ORIGINALWIDTH" val="648.6689"/>
  <p:tag name="LATEXADDIN" val="\documentclass{article}&#10;\usepackage{amsmath,physics}&#10;\pagestyle{empty}&#10;\begin{document}&#10;&#10;&#10;$J_\text{ring}=\frac{63\Omega^6}{16V^5}$&#10;&#10;\end{document}"/>
  <p:tag name="IGUANATEXSIZE" val="28"/>
  <p:tag name="IGUANATEXCURSOR" val="125"/>
  <p:tag name="TRANSPARENCY" val="True"/>
  <p:tag name="LATEXENGINEID" val="0"/>
  <p:tag name="TEMPFOLDER" val=".\temp_ig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"/>
  <p:tag name="ORIGINALWIDTH" val="569"/>
  <p:tag name="LATEXADDIN" val="\documentclass{article}&#10;\usepackage{amsmath,physics}&#10;\pagestyle{empty}&#10;\begin{document}&#10;&#10;\begin{equation*}&#10;= \ket{g} = \ket{\downarrow}&#10;\end{equation*}&#10;&#10;&#10;\end{document}"/>
  <p:tag name="IGUANATEXSIZE" val="24"/>
  <p:tag name="IGUANATEXCURSOR" val="125"/>
  <p:tag name="TRANSPARENCY" val="True"/>
  <p:tag name="LATEXENGINEID" val="0"/>
  <p:tag name="TEMPFOLDER" val="/private/var/folders/k0/3dck3pbd4xg9kltv_ghq8lp80000gn/T/com.microsoft.Powerpoint/TemporaryItems/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"/>
  <p:tag name="ORIGINALWIDTH" val="565"/>
  <p:tag name="LATEXADDIN" val="\documentclass{article}&#10;\usepackage{amsmath,physics}&#10;\pagestyle{empty}&#10;\begin{document}&#10;&#10;\begin{equation*}&#10;= \ket{r} = \ket{\uparrow}&#10;\end{equation*}&#10;&#10;&#10;\end{document}"/>
  <p:tag name="IGUANATEXSIZE" val="24"/>
  <p:tag name="IGUANATEXCURSOR" val="127"/>
  <p:tag name="TRANSPARENCY" val="True"/>
  <p:tag name="LATEXENGINEID" val="0"/>
  <p:tag name="TEMPFOLDER" val="/private/var/folders/k0/3dck3pbd4xg9kltv_ghq8lp80000gn/T/com.microsoft.Powerpoint/TemporaryItems/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8"/>
  <p:tag name="ORIGINALWIDTH" val="285"/>
  <p:tag name="OUTPUTTYPE" val="PDF"/>
  <p:tag name="IGUANATEXVERSION" val="160"/>
  <p:tag name="LATEXADDIN" val="\documentclass{article}&#10;\usepackage{amsmath,physics, wasysym, xcolor, geometry, amsfonts, amsmath,physics, bm, wasysym, oplotsymbl, mathtools, yhmath}&#10;\pagestyle{empty}&#10;\geometry{textwidth=10.6cm}&#10;\newcommand{\dual}[1]{\boldsymbol{\mathsf{#1}}}&#10;\begin{document}&#10;&#10;\begin{itemize}&#10;&#9;\item First, we assume that $\Omega \ll V, \delta$ and ignore the long-range interactions. Their effects will be considered later. The Hamiltonian can now be written as&#10;\begin{equation*}&#10;    \hat{H} = \underbrace{\frac{V}{2} \sum_{\text{tet}} \left( \hat{n}_{\text{tet}} -\rho \right)^2}_{\hat{H}_0} + \underbrace{\frac{\Omega}{2} \sum_i \left( \hat{b}_i + \hat{b}_i^\dagger \right)}_{\hat{H}_\Omega}&#10;\end{equation*}&#10;\item Treating $\hat{H}_\Omega$ as a perturbation over $\hat{H}_0$ gives ring exchange terms at sixth order. By adding a Rokhsar-Kivelson (RK) potential term, one can go to the RK point near which the system is a $U(1)$ QSL$^{[1]}$.&#10;\end{itemize}&#10;&#10;&#10;\end{document}"/>
  <p:tag name="IGUANATEXSIZE" val="40"/>
  <p:tag name="IGUANATEXCURSOR" val="369"/>
  <p:tag name="TRANSPARENCY" val="True"/>
  <p:tag name="LATEXENGINEID" val="0"/>
  <p:tag name="TEMPFOLDER" val="/private/var/folders/k0/3dck3pbd4xg9kltv_ghq8lp80000gn/T/com.microsoft.Powerpoint/TemporaryItems/"/>
  <p:tag name="LATEXFORMHEIGHT" val="416"/>
  <p:tag name="LATEXFORMWIDTH" val="50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7"/>
  <p:tag name="ORIGINALWIDTH" val="285"/>
  <p:tag name="OUTPUTTYPE" val="PDF"/>
  <p:tag name="IGUANATEXVERSION" val="160"/>
  <p:tag name="LATEXADDIN" val="\documentclass{article}&#10;\usepackage{amsmath,physics, wasysym, xcolor, geometry, amsfonts, amsmath,physics, bm, wasysym, oplotsymbl, mathtools, yhmath}&#10;\pagestyle{empty}&#10;\geometry{textwidth=10.6cm}&#10;\newcommand{\dual}[1]{\boldsymbol{\mathsf{#1}}}&#10;\begin{document}&#10;&#10;\begin{itemize}&#10;&#9;\item When the long-range interactions are considered, we show that the ground state is a $\mathbf{0}$ momentum state in the ice manifold when $\Omega = 0$. We call it the ice ferromagnet (ice FM) state, $\ket{\psi_{IFM}}$.&#10;&#9;\item For $\Omega \neq 0$, we treat both the long-range interactions and the Rabi drive upto sixth order in perturbation theory and obtain the effective Hamiltonian, $\hat{H}_\text{eff}$.&#10;\end{itemize}&#10;&#10;&#10;\end{document}"/>
  <p:tag name="IGUANATEXSIZE" val="40"/>
  <p:tag name="IGUANATEXCURSOR" val="692"/>
  <p:tag name="TRANSPARENCY" val="True"/>
  <p:tag name="LATEXENGINEID" val="0"/>
  <p:tag name="TEMPFOLDER" val="/private/var/folders/k0/3dck3pbd4xg9kltv_ghq8lp80000gn/T/com.microsoft.Powerpoint/TemporaryItems/"/>
  <p:tag name="LATEXFORMHEIGHT" val="416"/>
  <p:tag name="LATEXFORMWIDTH" val="50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2"/>
  <p:tag name="ORIGINALWIDTH" val="285"/>
  <p:tag name="OUTPUTTYPE" val="PDF"/>
  <p:tag name="IGUANATEXVERSION" val="160"/>
  <p:tag name="LATEXADDIN" val="\documentclass{article}&#10;\usepackage{amsmath,physics, wasysym, xcolor, geometry, amsfonts, amsmath,physics, bm, wasysym, oplotsymbl, mathtools, yhmath}&#10;\pagestyle{empty}&#10;\geometry{textwidth=10.6cm}&#10;\newcommand{\dual}[1]{\boldsymbol{\mathsf{#1}}}&#10;\begin{document}&#10;&#10;\begin{itemize}&#10;&#9;\item Consider netural atoms trapped on the sites of a pyrochlore lattice using optical tweezers. The Hamiltonian is given by&#10;\begin{equation*}&#10;  \hat{H}_{\text{ryd}} = -\delta \sum_i \hat{n}_i + \frac{V}{2} \sum_{i \neq j} \left( \frac{a}{|\bm{x}_i -\bm{x}_j|} \right)^6 \hat{n}_i \hat{n}_j+\frac{\Omega}{2} \sum_i (\hat{b}_i + \hat{b}_i^\dagger )&#10;\end{equation*}&#10;\end{itemize}&#10;&#10;&#10;\end{document}"/>
  <p:tag name="IGUANATEXSIZE" val="40"/>
  <p:tag name="IGUANATEXCURSOR" val="405"/>
  <p:tag name="TRANSPARENCY" val="True"/>
  <p:tag name="LATEXENGINEID" val="0"/>
  <p:tag name="TEMPFOLDER" val="/private/var/folders/k0/3dck3pbd4xg9kltv_ghq8lp80000gn/T/com.microsoft.Powerpoint/TemporaryItems/"/>
  <p:tag name="LATEXFORMHEIGHT" val="416"/>
  <p:tag name="LATEXFORMWIDTH" val="50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9"/>
  <p:tag name="ORIGINALWIDTH" val="285"/>
  <p:tag name="OUTPUTTYPE" val="PDF"/>
  <p:tag name="IGUANATEXVERSION" val="160"/>
  <p:tag name="LATEXADDIN" val="\documentclass{article}&#10;\usepackage{amsmath,physics, wasysym, xcolor, geometry, amsfonts, amsmath,physics, bm, wasysym, oplotsymbl, mathtools, yhmath}&#10;\pagestyle{empty}&#10;\geometry{textwidth=10.6cm}&#10;\newcommand{\dual}[1]{\boldsymbol{\mathsf{#1}}}&#10;\begin{document}&#10;&#10;\begin{itemize}&#10;&#9;\item A QSL state can be prepared in two ways: (1) Adiabatic preparation where one starts with $\delta \ll -V$ and $\Omega \ll V$ and tunes $\delta$ and $\Omega$ adibatically to the desired region. (2) Start with $\delta \ll -V$, $\Omega \ll V$ and evolve the system adiabatically w.r.t the spinons but suddenly w.r.t the monopoles. This projects out the states outside the ice manifold and prepares the RK wavefunction.&#10;\end{itemize}&#10;&#10;&#10;&#10;\end{document}"/>
  <p:tag name="IGUANATEXSIZE" val="40"/>
  <p:tag name="IGUANATEXCURSOR" val="457"/>
  <p:tag name="TRANSPARENCY" val="True"/>
  <p:tag name="LATEXENGINEID" val="0"/>
  <p:tag name="TEMPFOLDER" val="/private/var/folders/k0/3dck3pbd4xg9kltv_ghq8lp80000gn/T/com.microsoft.Powerpoint/TemporaryItems/"/>
  <p:tag name="LATEXFORMHEIGHT" val="416"/>
  <p:tag name="LATEXFORMWIDTH" val="50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"/>
  <p:tag name="ORIGINALWIDTH" val="287"/>
  <p:tag name="OUTPUTTYPE" val="PDF"/>
  <p:tag name="IGUANATEXVERSION" val="160"/>
  <p:tag name="LATEXADDIN" val="\documentclass{article}&#10;\usepackage{amsmath,physics, wasysym, xcolor, geometry, amsfonts, amsmath,physics, bm, wasysym, oplotsymbl, mathtools, yhmath}&#10;\pagestyle{empty}&#10;\geometry{textwidth=10.6cm}&#10;\newcommand{\dual}[1]{\boldsymbol{\mathsf{#1}}}&#10;\begin{document}&#10;&#10;\begin{itemize}&#10;&#10; &#9;\item The phase diagram is determined by calculating $\langle \hat{H}_\text{eff} \rangle$ in $\ket{\psi_{IFM}}$, ordered and $\ket{\psi_{RK}}$, QSL phases. The latter is calculated using classical Monte Carlo.&#10;\end{itemize}&#10;&#10;&#10;\end{document}"/>
  <p:tag name="IGUANATEXSIZE" val="40"/>
  <p:tag name="IGUANATEXCURSOR" val="436"/>
  <p:tag name="TRANSPARENCY" val="True"/>
  <p:tag name="LATEXENGINEID" val="0"/>
  <p:tag name="TEMPFOLDER" val="/private/var/folders/k0/3dck3pbd4xg9kltv_ghq8lp80000gn/T/com.microsoft.Powerpoint/TemporaryItems/"/>
  <p:tag name="LATEXFORMHEIGHT" val="495"/>
  <p:tag name="LATEXFORMWIDTH" val="598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7"/>
  <p:tag name="ORIGINALWIDTH" val="286"/>
  <p:tag name="OUTPUTTYPE" val="PDF"/>
  <p:tag name="IGUANATEXVERSION" val="160"/>
  <p:tag name="LATEXADDIN" val="\documentclass{article}&#10;\usepackage{amsmath,physics, wasysym, xcolor, geometry, amsfonts, amsmath,physics, bm, wasysym, oplotsymbl, mathtools, yhmath}&#10;\pagestyle{empty}&#10;\geometry{textwidth=10.6cm}&#10;\newcommand{\dual}[1]{\boldsymbol{\mathsf{#1}}}&#10;\begin{document}&#10;&#10;\begin{itemize}&#10;\item We find that the system is in a $U(1)$ QSL phase in a window of detunings and Rabi frequencies.&#10;\item The Higgs transition and the confinement-deconfinement transition can be accessed by varying the Rabi frequency.&#10;\item We comment on the state preparation and propose various correlators including non-local correlators that can distinguish the phases. We also provide protocols to measure them.&#10;&#10;&#10;\end{itemize}&#10;&#10;&#10;\end{document}"/>
  <p:tag name="IGUANATEXSIZE" val="40"/>
  <p:tag name="IGUANATEXCURSOR" val="605"/>
  <p:tag name="TRANSPARENCY" val="True"/>
  <p:tag name="LATEXENGINEID" val="0"/>
  <p:tag name="TEMPFOLDER" val="/private/var/folders/k0/3dck3pbd4xg9kltv_ghq8lp80000gn/T/com.microsoft.Powerpoint/TemporaryItems/"/>
  <p:tag name="LATEXFORMHEIGHT" val="416"/>
  <p:tag name="LATEXFORMWIDTH" val="50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6"/>
  <p:tag name="ORIGINALWIDTH" val="289"/>
  <p:tag name="OUTPUTTYPE" val="PDF"/>
  <p:tag name="IGUANATEXVERSION" val="160"/>
  <p:tag name="LATEXADDIN" val="\documentclass{article}&#10;\usepackage{amsmath,physics, wasysym, xcolor, geometry, amsfonts, amsmath,physics, bm, wasysym, oplotsymbl, mathtools, yhmath}&#10;\pagestyle{empty}&#10;\geometry{textwidth=10.6cm}&#10;\newcommand{\dual}[1]{\boldsymbol{\mathsf{#1}}}&#10;\usepackage{setspace}&#10;\setstretch{0.9}&#10;\begin{document}&#10;&#10;\begin{itemize}&#10;\itemsep0em &#10;&#9;\item Following correlators can distinguish between the phases.&#10;&#9;\item Plaquette-plaquette correlators: These tell if the photon is gapless. The correlators are, $\langle \hat{X}_P \hat{X}_{P'} \rangle$ and $\langle \hat{Y}_P \hat{Y}_{P'} \rangle$, where&#10;\begin{equation*}&#10;\hat{X}_{P} =  \left( \hat{S}_1^+ \hat{S}_2^-\hat{S}_3^+\hat{S}_4^-\hat{S}_5^+\hat{S}_6^-   + \text{H.c.} \right) &#10;\end{equation*}&#10;\begin{equation*}&#10; \hat{Y}_{P} = -i \hat{S}_1^+ \hat{S}_2^-\hat{S}_3^+\hat{S}_4^-\hat{S}_5^+\hat{S}_6^-   + \text{H.c.}&#10;\end{equation*}&#10;&#10;\item Monopole correlator shown below, decays exponentially in the QSL phase and is a nonzero constant in the confined phase. &#10;\begin{equation*}&#10;   \expval{  \hat{\mathcal{M}}^\dagger \hat{\mathcal{M}} (\dual{r}_1\rightarrow \dual{r}_2) } = \expval{ e^{i\sum_{\bm{x}\in \text{pyrochlore}}\mathcal{A}_{\bm{x}}  \left(\hat{n}_{\bm{x}}-1/2\right)} }&#10;\end{equation*}&#10;&#10;\item Bricmont-Fr{\&quot;o}lich-Fredenhagen-Marcu (BFFM) order parameters shown below are exponentially small in the QSL while are nonzero constants in the ordered phases.&#10;\begin{equation*}&#10;\chi_{\mathcal{C}}^E = \frac{\abs{ \expval{ e^{i\sum_\mathcal{C} \hat{a}_{\vb{r}\vb{r}'}  } +\text{H.c.} } } }{\sqrt{ \abs{ \expval{ e^{i \sum_{\mathcal{L}} \hat{a}_{\vb{r} \vb{r}'} } + \text{H.c.} }  }}} \;\;\;,\;\;\; \chi_{\mathcal{C}}^M = \frac{\expval{ \hat{\mathcal{M}}^{\dagger} \hat{\mathcal{M}}\left(\dual{r}_1 \xrightarrow{\mathcal{C}} \dual{r}_2\right) } }{  \sqrt{\expval{ \hat{\mathcal{M}}^{\dagger} \hat{\mathcal{M}}\left(\dual{r}_1 \xrightarrow{\mathcal{L}} \dual{r}_1\right)}}  }&#10;\end{equation*}&#10;&#10;&#10;\end{itemize}&#10;&#10;&#10;\end{document}"/>
  <p:tag name="IGUANATEXSIZE" val="40"/>
  <p:tag name="IGUANATEXCURSOR" val="282"/>
  <p:tag name="TRANSPARENCY" val="True"/>
  <p:tag name="LATEXENGINEID" val="0"/>
  <p:tag name="TEMPFOLDER" val="/private/var/folders/k0/3dck3pbd4xg9kltv_ghq8lp80000gn/T/com.microsoft.Powerpoint/TemporaryItems/"/>
  <p:tag name="LATEXFORMHEIGHT" val="416"/>
  <p:tag name="LATEXFORMWIDTH" val="50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0"/>
  <p:tag name="ORIGINALWIDTH" val="355"/>
  <p:tag name="OUTPUTTYPE" val="PDF"/>
  <p:tag name="IGUANATEXVERSION" val="160"/>
  <p:tag name="LATEXADDIN" val="\documentclass{article}&#10;\usepackage{amsmath,physics, wasysym, xcolor, geometry, amsfonts, amsmath,physics, bm, wasysym, oplotsymbl, mathtools, yhmath}&#10;\usepackage{setspace}&#10;&#10;\pagestyle{empty}&#10;\geometry{textwidth=13cm}&#10;\newcommand{\dual}[1]{\boldsymbol{\mathsf{#1}}}&#10;\setstretch{-1}&#10;&#10;\begin{document}&#10;&#10;\begin{enumerate}&#10;\itemsep0em &#10;\item M. Hermele, M. P. A. Fisher, and L. Balents,  Phys. Rev. B \textbf{69}, 064404 (2004).&#10;\item N. Shannon, O. Sikora, F. Pollmann, K. Penc, and P. Fulde, Phys. Rev. Lett. \textbf{108}, 067204 (2012).&#10;\item R. Verresen, M. D. Lukin, and A. Vishwanath, Phys. Rev. X \textbf{11}, 031005 (2021).&#10;&#10;\end{enumerate}&#10;&#10;&#10;\end{document}"/>
  <p:tag name="IGUANATEXSIZE" val="32"/>
  <p:tag name="IGUANATEXCURSOR" val="535"/>
  <p:tag name="TRANSPARENCY" val="True"/>
  <p:tag name="LATEXENGINEID" val="0"/>
  <p:tag name="TEMPFOLDER" val="/private/var/folders/k0/3dck3pbd4xg9kltv_ghq8lp80000gn/T/com.microsoft.Powerpoint/TemporaryItems/"/>
  <p:tag name="LATEXFORMHEIGHT" val="416"/>
  <p:tag name="LATEXFORMWIDTH" val="50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5"/>
  <p:tag name="ORIGINALWIDTH" val="285"/>
  <p:tag name="OUTPUTTYPE" val="PDF"/>
  <p:tag name="IGUANATEXVERSION" val="160"/>
  <p:tag name="LATEXADDIN" val="\documentclass{article}&#10;\usepackage{amsmath,physics, wasysym, xcolor, geometry, amsfonts}&#10;\pagestyle{empty}&#10;\geometry{textwidth=10.6cm}&#10;\newcommand{\dual}[1]{\boldsymbol{\mathsf{#1}}}&#10;\begin{document}&#10;&#10;\begin{itemize}&#10;&#9;\item Quantum spin liquids(QSLs) are states which are disordered because of the quantum fluctuations and are highly entangled.&#10;&#9;\item They are typically described by the deconfined phases of gauge theories and exhibit fractionalization.&#10;&#9;\item They cannot be distinguished from ordered states by any local order parameter. Non-local order parameters are necessarily required which are difficult to measure in traditional condensed matter systems.&#10;&#9;&#10;&#9;\item Recently, signatures of a $\mathbb{Z}_2$ QSL were observed in a 2D Rydberg atom array (Semeghini et al.) and the toric code ground state was prepared at Google (Satzinger et al.).&#10;\item However, there is no conclusive evidence of a $U(1)$ QSL in any system so far, which is the focus of our work.&#10;\end{itemize}&#10;&#10;&#10;\end{document}"/>
  <p:tag name="IGUANATEXSIZE" val="40"/>
  <p:tag name="IGUANATEXCURSOR" val="639"/>
  <p:tag name="TRANSPARENCY" val="True"/>
  <p:tag name="LATEXENGINEID" val="0"/>
  <p:tag name="TEMPFOLDER" val="/private/var/folders/k0/3dck3pbd4xg9kltv_ghq8lp80000gn/T/com.microsoft.Powerpoint/TemporaryItems/"/>
  <p:tag name="LATEXFORMHEIGHT" val="416"/>
  <p:tag name="LATEXFORMWIDTH" val="504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1426</TotalTime>
  <Words>46</Words>
  <Application>Microsoft Macintosh PowerPoint</Application>
  <PresentationFormat>Custom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Baloo Thambi 2</vt:lpstr>
      <vt:lpstr>Calibri</vt:lpstr>
      <vt:lpstr>Calibri Light</vt:lpstr>
      <vt:lpstr>Office Theme</vt:lpstr>
      <vt:lpstr>Quantum spin ice in three-dimensional Rydberg atom arrays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spin ice in three-dimensional  Rydberg atom arrays AN ATTENTION</dc:title>
  <dc:creator>Jeet Girish Shah</dc:creator>
  <cp:lastModifiedBy>Jeet Girish Shah</cp:lastModifiedBy>
  <cp:revision>15</cp:revision>
  <dcterms:created xsi:type="dcterms:W3CDTF">2023-06-20T16:03:43Z</dcterms:created>
  <dcterms:modified xsi:type="dcterms:W3CDTF">2023-06-21T16:02:18Z</dcterms:modified>
</cp:coreProperties>
</file>